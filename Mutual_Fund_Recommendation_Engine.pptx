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560320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542"/>
                </a:solidFill>
              </a:defRPr>
            </a:pPr>
            <a:r>
              <a:t>Quantitative Mutual Fund Recommendation</a:t>
            </a:r>
            <a:br/>
            <a:r>
              <a:t>&amp; Dynamic Portfolio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Integrating Multi-Factor Financial Indicators, LambdaMART Ranking, and Markowitz Efficient Frontier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956A"/>
                </a:solidFill>
              </a:defRPr>
            </a:pPr>
            <a:r>
              <a:t>MUTUAL FUND QUANTITATIVE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Executive Agenda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b="1" sz="1200">
                <a:solidFill>
                  <a:srgbClr val="10956A"/>
                </a:solidFill>
              </a:defRPr>
            </a:pPr>
            <a:r>
              <a:t>01</a:t>
            </a:r>
          </a:p>
          <a:p>
            <a:pPr>
              <a:defRPr b="1" sz="1400">
                <a:solidFill>
                  <a:srgbClr val="102542"/>
                </a:solidFill>
              </a:defRPr>
            </a:pPr>
            <a:r>
              <a:t>Problem &amp; Industry Context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Challenges in retail mutual fund distribution.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b="1" sz="1200">
                <a:solidFill>
                  <a:srgbClr val="10956A"/>
                </a:solidFill>
              </a:defRPr>
            </a:pPr>
            <a:r>
              <a:t>02</a:t>
            </a:r>
          </a:p>
          <a:p>
            <a:pPr>
              <a:defRPr b="1" sz="1400">
                <a:solidFill>
                  <a:srgbClr val="102542"/>
                </a:solidFill>
              </a:defRPr>
            </a:pPr>
            <a:r>
              <a:t>Critical Research Gaps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Shortcomings of legacy heuristics and naive ML.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b="1" sz="1200">
                <a:solidFill>
                  <a:srgbClr val="10956A"/>
                </a:solidFill>
              </a:defRPr>
            </a:pPr>
            <a:r>
              <a:t>03</a:t>
            </a:r>
          </a:p>
          <a:p>
            <a:pPr>
              <a:defRPr b="1" sz="1400">
                <a:solidFill>
                  <a:srgbClr val="102542"/>
                </a:solidFill>
              </a:defRPr>
            </a:pPr>
            <a:r>
              <a:t>Project Objectives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End-to-end system and mathematical milestones.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29184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b="1" sz="1200">
                <a:solidFill>
                  <a:srgbClr val="10956A"/>
                </a:solidFill>
              </a:defRPr>
            </a:pPr>
            <a:r>
              <a:t>04</a:t>
            </a:r>
          </a:p>
          <a:p>
            <a:pPr>
              <a:defRPr b="1" sz="1400">
                <a:solidFill>
                  <a:srgbClr val="102542"/>
                </a:solidFill>
              </a:defRPr>
            </a:pPr>
            <a:r>
              <a:t>System Architecture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Ingestion, feature store, ranking, and optimization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31920"/>
            <a:ext cx="329184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b="1" sz="1200">
                <a:solidFill>
                  <a:srgbClr val="10956A"/>
                </a:solidFill>
              </a:defRPr>
            </a:pPr>
            <a:r>
              <a:t>05</a:t>
            </a:r>
          </a:p>
          <a:p>
            <a:pPr>
              <a:defRPr b="1" sz="1400">
                <a:solidFill>
                  <a:srgbClr val="102542"/>
                </a:solidFill>
              </a:defRPr>
            </a:pPr>
            <a:r>
              <a:t>Algorithmic Methodology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LambdaMART formulation &amp; Mean-Variance Theory.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29184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b="1" sz="1200">
                <a:solidFill>
                  <a:srgbClr val="10956A"/>
                </a:solidFill>
              </a:defRPr>
            </a:pPr>
            <a:r>
              <a:t>06</a:t>
            </a:r>
          </a:p>
          <a:p>
            <a:pPr>
              <a:defRPr b="1" sz="1400">
                <a:solidFill>
                  <a:srgbClr val="102542"/>
                </a:solidFill>
              </a:defRPr>
            </a:pPr>
            <a:r>
              <a:t>Empirical Results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Empirical outputs for Conservative, Moderate, and Aggressive profiles.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956A"/>
                </a:solidFill>
              </a:defRPr>
            </a:pPr>
            <a:r>
              <a:t>MUTUAL FUND QUANTITATIVE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Problem Statement &amp; Structural Market Inefficiencies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b="1" sz="1400">
                <a:solidFill>
                  <a:srgbClr val="102542"/>
                </a:solidFill>
              </a:defRPr>
            </a:pPr>
            <a:r>
              <a:t>Scheme Selection Saturation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The Indian AMFI universe comprises 2,500+ mutual fund schemes. Retail investors face choice paralysis without quantitative tools to distinguish persistent performance from transient luck.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b="1" sz="1400">
                <a:solidFill>
                  <a:srgbClr val="102542"/>
                </a:solidFill>
              </a:defRPr>
            </a:pPr>
            <a:r>
              <a:t>Misleading Return Metrics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Distributors frequently highlight 1Y, 3Y, or 5Y absolute trailing returns, ignoring downside volatility, maximum drawdown regimes, and market beta.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b="1" sz="1400">
                <a:solidFill>
                  <a:srgbClr val="102542"/>
                </a:solidFill>
              </a:defRPr>
            </a:pPr>
            <a:r>
              <a:t>Arbitrary Portfolio Allocation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Commercial aggregators provide isolated fund recommendations without solving for optimal asset weights, creating unmanaged correlation risks and portfolio bloat.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956A"/>
                </a:solidFill>
              </a:defRPr>
            </a:pPr>
            <a:r>
              <a:t>MUTUAL FUND QUANTITATIVE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Research Gap in Current Machine Learning Approaches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b="1" sz="1100">
                <a:solidFill>
                  <a:srgbClr val="10956A"/>
                </a:solidFill>
              </a:defRPr>
            </a:pPr>
            <a:r>
              <a:t>GAP 1</a:t>
            </a:r>
          </a:p>
          <a:p>
            <a:pPr>
              <a:defRPr b="1" sz="1400">
                <a:solidFill>
                  <a:srgbClr val="102542"/>
                </a:solidFill>
              </a:defRPr>
            </a:pPr>
            <a:r>
              <a:t>Flawed Predictive Formulation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Standard regression/classification models attempt to forecast exact future NAV returns. This approach fails due to high noise-to-signal ratios, regime shifts, and non-stationary financial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b="1" sz="1100">
                <a:solidFill>
                  <a:srgbClr val="10956A"/>
                </a:solidFill>
              </a:defRPr>
            </a:pPr>
            <a:r>
              <a:t>GAP 2</a:t>
            </a:r>
          </a:p>
          <a:p>
            <a:pPr>
              <a:defRPr b="1" sz="1400">
                <a:solidFill>
                  <a:srgbClr val="102542"/>
                </a:solidFill>
              </a:defRPr>
            </a:pPr>
            <a:r>
              <a:t>Peer Distortion &amp; Category Bias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Evaluating cross-category funds without intra-class normalization introduces significant bias (e.g., small-cap funds naturally outperforming large-cap funds in bull cycles).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b="1" sz="1100">
                <a:solidFill>
                  <a:srgbClr val="10956A"/>
                </a:solidFill>
              </a:defRPr>
            </a:pPr>
            <a:r>
              <a:t>GAP 3</a:t>
            </a:r>
          </a:p>
          <a:p>
            <a:pPr>
              <a:defRPr b="1" sz="1400">
                <a:solidFill>
                  <a:srgbClr val="102542"/>
                </a:solidFill>
              </a:defRPr>
            </a:pPr>
            <a:r>
              <a:t>Disconnected Allocation Frameworks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Existing research treats fund ranking and portfolio construction as disconnected silos, omitting the discrete integer allocation needed to produce realistic, actionable share units.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956A"/>
                </a:solidFill>
              </a:defRPr>
            </a:pPr>
            <a:r>
              <a:t>MUTUAL FUND QUANTITATIVE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Core Objectives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defRPr sz="1300"/>
            </a:pPr>
            <a:r>
              <a:rPr b="1">
                <a:solidFill>
                  <a:srgbClr val="102542"/>
                </a:solidFill>
              </a:rPr>
              <a:t>Automated Time-Series Data Pipelines: </a:t>
            </a:r>
            <a:r>
              <a:rPr>
                <a:solidFill>
                  <a:srgbClr val="1E293B"/>
                </a:solidFill>
              </a:rPr>
              <a:t>Direct ingestion of historical NAV datasets across active AMFI mutual fund schemes into PostgreSQL.</a:t>
            </a:r>
          </a:p>
          <a:p>
            <a:pPr>
              <a:lnSpc>
                <a:spcPct val="120000"/>
              </a:lnSpc>
              <a:defRPr sz="1300"/>
            </a:pPr>
            <a:r>
              <a:rPr b="1">
                <a:solidFill>
                  <a:srgbClr val="102542"/>
                </a:solidFill>
              </a:rPr>
              <a:t>Multi-Horizon Factor Modeling: </a:t>
            </a:r>
            <a:r>
              <a:rPr>
                <a:solidFill>
                  <a:srgbClr val="1E293B"/>
                </a:solidFill>
              </a:rPr>
              <a:t>Computation of key quantitative metrics (Sharpe, Sortino, Jensen's Alpha, Beta, CAGR, and Drawdown) across 1Y and 3Y horizons.</a:t>
            </a:r>
          </a:p>
          <a:p>
            <a:pPr>
              <a:lnSpc>
                <a:spcPct val="120000"/>
              </a:lnSpc>
              <a:defRPr sz="1300"/>
            </a:pPr>
            <a:r>
              <a:rPr b="1">
                <a:solidFill>
                  <a:srgbClr val="102542"/>
                </a:solidFill>
              </a:rPr>
              <a:t>Intra-Category Learning-to-Rank Engine: </a:t>
            </a:r>
            <a:r>
              <a:rPr>
                <a:solidFill>
                  <a:srgbClr val="1E293B"/>
                </a:solidFill>
              </a:rPr>
              <a:t>LambdaMART formulation to rank schemes within their respective categories, optimizing NDCG@K.</a:t>
            </a:r>
          </a:p>
          <a:p>
            <a:pPr>
              <a:lnSpc>
                <a:spcPct val="120000"/>
              </a:lnSpc>
              <a:defRPr sz="1300"/>
            </a:pPr>
            <a:r>
              <a:rPr b="1">
                <a:solidFill>
                  <a:srgbClr val="102542"/>
                </a:solidFill>
              </a:rPr>
              <a:t>Constrained Modern Portfolio Theory: </a:t>
            </a:r>
            <a:r>
              <a:rPr>
                <a:solidFill>
                  <a:srgbClr val="1E293B"/>
                </a:solidFill>
              </a:rPr>
              <a:t>Markowitz Mean-Variance Optimization paired with Ledoit-Wolf covariance shrinkage to allocate profile-specific weights.</a:t>
            </a:r>
          </a:p>
          <a:p>
            <a:pPr>
              <a:lnSpc>
                <a:spcPct val="120000"/>
              </a:lnSpc>
              <a:defRPr sz="1300"/>
            </a:pPr>
            <a:r>
              <a:rPr b="1">
                <a:solidFill>
                  <a:srgbClr val="102542"/>
                </a:solidFill>
              </a:rPr>
              <a:t>Production-Ready Microservice: </a:t>
            </a:r>
            <a:r>
              <a:rPr>
                <a:solidFill>
                  <a:srgbClr val="1E293B"/>
                </a:solidFill>
              </a:rPr>
              <a:t>Sub-second REST API powered by FastAPI, returning discrete allocations and projected risk-return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956A"/>
                </a:solidFill>
              </a:defRPr>
            </a:pPr>
            <a:r>
              <a:t>MUTUAL FUND QUANTITATIVE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Methodology &amp; Architecture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3657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b="1" sz="1300">
                <a:solidFill>
                  <a:srgbClr val="102542"/>
                </a:solidFill>
              </a:defRPr>
            </a:pPr>
            <a:r>
              <a:t>1. Ingestion Engine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PostgreSQL database storing raw historical NAV time-series and scheme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011680"/>
            <a:ext cx="2468880" cy="3657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b="1" sz="1300">
                <a:solidFill>
                  <a:srgbClr val="102542"/>
                </a:solidFill>
              </a:defRPr>
            </a:pPr>
            <a:r>
              <a:t>2. Feature Store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14 engineered multi-horizon features covering risk, downside, and return ratios.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468880" cy="3657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b="1" sz="1300">
                <a:solidFill>
                  <a:srgbClr val="102542"/>
                </a:solidFill>
              </a:defRPr>
            </a:pPr>
            <a:r>
              <a:t>3. Ranking Tier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LightGBM LambdaRank optimizing NDCG to select the top fund per market segment.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011680"/>
            <a:ext cx="2468880" cy="3657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b="1" sz="1300">
                <a:solidFill>
                  <a:srgbClr val="102542"/>
                </a:solidFill>
              </a:defRPr>
            </a:pPr>
            <a:r>
              <a:t>4. MPT Optimizer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PyPortfolioOpt running quadratic optimization with category exclusivity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956A"/>
                </a:solidFill>
              </a:defRPr>
            </a:pPr>
            <a:r>
              <a:t>MUTUAL FUND QUANTITATIVE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Empirical Allocation Results (₹1,00,000 Portfolio)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Fund Count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Holdings Breakdown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Exp. Return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Volatility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Conservative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 Funds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Equity Savings (47.5%), Aggressive Hybrid (47.5%), Large Cap (5.0%)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6.02%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0.91%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-0.52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 Funds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Mid Cap (32.5%), Flexi Cap (31.4%), Large Cap (31.2%), Hybrid (5.0%)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11.69%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14.37%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Aggressive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 Funds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Large &amp; Mid (25.6%), Small (25.4%), Mid (25.2%), Flexi (23.8%)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23.07%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17.05%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956A"/>
                </a:solidFill>
              </a:defRPr>
            </a:pPr>
            <a:r>
              <a:t>MUTUAL FUND QUANTITATIVE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542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b="1" sz="1600">
                <a:solidFill>
                  <a:srgbClr val="102542"/>
                </a:solidFill>
              </a:defRPr>
            </a:pPr>
            <a:r>
              <a:t>Key Contributions</a:t>
            </a:r>
          </a:p>
          <a:p>
            <a:pPr>
              <a:lnSpc>
                <a:spcPct val="120000"/>
              </a:lnSpc>
              <a:defRPr sz="1300"/>
            </a:pPr>
            <a:r>
              <a:rPr b="1">
                <a:solidFill>
                  <a:srgbClr val="102542"/>
                </a:solidFill>
              </a:rPr>
              <a:t>Intra-Category Equity Fairness: </a:t>
            </a:r>
            <a:r>
              <a:rPr>
                <a:solidFill>
                  <a:srgbClr val="1E293B"/>
                </a:solidFill>
              </a:rPr>
              <a:t>Mitigated broad market cap bias by deploying LambdaMART rankers strictly within sub-category groups.</a:t>
            </a:r>
          </a:p>
          <a:p>
            <a:pPr>
              <a:lnSpc>
                <a:spcPct val="120000"/>
              </a:lnSpc>
              <a:defRPr sz="1300"/>
            </a:pPr>
            <a:r>
              <a:rPr b="1">
                <a:solidFill>
                  <a:srgbClr val="102542"/>
                </a:solidFill>
              </a:rPr>
              <a:t>Near-Zero Unallocated Drag: </a:t>
            </a:r>
            <a:r>
              <a:rPr>
                <a:solidFill>
                  <a:srgbClr val="1E293B"/>
                </a:solidFill>
              </a:rPr>
              <a:t>Discrete integer optimization deployed ₹99,967+ across portfolios with negligible unallocated cash.</a:t>
            </a:r>
          </a:p>
          <a:p>
            <a:pPr>
              <a:lnSpc>
                <a:spcPct val="120000"/>
              </a:lnSpc>
              <a:defRPr sz="1300"/>
            </a:pPr>
            <a:r>
              <a:rPr b="1">
                <a:solidFill>
                  <a:srgbClr val="102542"/>
                </a:solidFill>
              </a:rPr>
              <a:t>Microservice Deployment: </a:t>
            </a:r>
            <a:r>
              <a:rPr>
                <a:solidFill>
                  <a:srgbClr val="1E293B"/>
                </a:solidFill>
              </a:rPr>
              <a:t>Exposed FastAPI microservices returning sub-second portfolio allocations.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b="1" sz="1600">
                <a:solidFill>
                  <a:srgbClr val="102542"/>
                </a:solidFill>
              </a:defRPr>
            </a:pPr>
            <a:r>
              <a:t>Future Scope</a:t>
            </a:r>
          </a:p>
          <a:p>
            <a:pPr>
              <a:lnSpc>
                <a:spcPct val="120000"/>
              </a:lnSpc>
              <a:defRPr sz="1300"/>
            </a:pPr>
            <a:r>
              <a:rPr b="1">
                <a:solidFill>
                  <a:srgbClr val="102542"/>
                </a:solidFill>
              </a:rPr>
              <a:t>Tax-Aware Rebalancing: </a:t>
            </a:r>
            <a:r>
              <a:rPr>
                <a:solidFill>
                  <a:srgbClr val="1E293B"/>
                </a:solidFill>
              </a:rPr>
              <a:t>Integration of LTCG/STCG tax schedules and exit loads into rebalancing optimization.</a:t>
            </a:r>
          </a:p>
          <a:p>
            <a:pPr>
              <a:lnSpc>
                <a:spcPct val="120000"/>
              </a:lnSpc>
              <a:defRPr sz="1300"/>
            </a:pPr>
            <a:r>
              <a:rPr b="1">
                <a:solidFill>
                  <a:srgbClr val="102542"/>
                </a:solidFill>
              </a:rPr>
              <a:t>SIP Simulation &amp; Horizon Modeling: </a:t>
            </a:r>
            <a:r>
              <a:rPr>
                <a:solidFill>
                  <a:srgbClr val="1E293B"/>
                </a:solidFill>
              </a:rPr>
              <a:t>Extending integer allocation to recurring SIP mandates and goal horizons.</a:t>
            </a:r>
          </a:p>
          <a:p>
            <a:pPr>
              <a:lnSpc>
                <a:spcPct val="120000"/>
              </a:lnSpc>
              <a:defRPr sz="1300"/>
            </a:pPr>
            <a:r>
              <a:rPr b="1">
                <a:solidFill>
                  <a:srgbClr val="102542"/>
                </a:solidFill>
              </a:rPr>
              <a:t>Interactive Dashboard: </a:t>
            </a:r>
            <a:r>
              <a:rPr>
                <a:solidFill>
                  <a:srgbClr val="1E293B"/>
                </a:solidFill>
              </a:rPr>
              <a:t>React/Streamlit dashboard providing visual wealth projections and automated PDF fact-sheets.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